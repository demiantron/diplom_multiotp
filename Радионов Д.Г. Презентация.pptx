
<file path=[Content_Types].xml><?xml version="1.0" encoding="utf-8"?>
<Types xmlns="http://schemas.openxmlformats.org/package/2006/content-types">
  <Default Extension="png" ContentType="image/png"/>
  <Default Extension="bmp" ContentType="image/bmp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AF4B9-1D39-4F0F-AD4E-C9187235B002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9236-1323-4D13-8511-EC2E093E1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908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AF4B9-1D39-4F0F-AD4E-C9187235B002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9236-1323-4D13-8511-EC2E093E1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198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AF4B9-1D39-4F0F-AD4E-C9187235B002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9236-1323-4D13-8511-EC2E093E1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24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AF4B9-1D39-4F0F-AD4E-C9187235B002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9236-1323-4D13-8511-EC2E093E1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607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AF4B9-1D39-4F0F-AD4E-C9187235B002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9236-1323-4D13-8511-EC2E093E1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8639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AF4B9-1D39-4F0F-AD4E-C9187235B002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9236-1323-4D13-8511-EC2E093E1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02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AF4B9-1D39-4F0F-AD4E-C9187235B002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9236-1323-4D13-8511-EC2E093E1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153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AF4B9-1D39-4F0F-AD4E-C9187235B002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9236-1323-4D13-8511-EC2E093E1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0729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AF4B9-1D39-4F0F-AD4E-C9187235B002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9236-1323-4D13-8511-EC2E093E1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51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AF4B9-1D39-4F0F-AD4E-C9187235B002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9236-1323-4D13-8511-EC2E093E1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239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AF4B9-1D39-4F0F-AD4E-C9187235B002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9236-1323-4D13-8511-EC2E093E1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477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AF4B9-1D39-4F0F-AD4E-C9187235B002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39236-1323-4D13-8511-EC2E093E1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2135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bmp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Demiantron/Diplom_multiot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532156"/>
            <a:ext cx="9144000" cy="2596652"/>
          </a:xfrm>
        </p:spPr>
        <p:txBody>
          <a:bodyPr>
            <a:normAutofit/>
          </a:bodyPr>
          <a:lstStyle/>
          <a:p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Частное  учреждение профессионального образования </a:t>
            </a:r>
            <a:b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«высшая школа предпринимательства»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329165"/>
            <a:ext cx="9144000" cy="1655762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Дипломный проект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и внедрение сервиса двухфакторной аутентификации для доменной инфраструктуры на базе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Directory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использованием программного комплекса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MultiOTP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904" y="581844"/>
            <a:ext cx="2184749" cy="18524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04745" y="5115113"/>
            <a:ext cx="2573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Радионов Д.Г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– студент.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54064" y="5614631"/>
            <a:ext cx="4123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Бакланов А.А. – научный руководитель.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21112" y="631328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56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Актуальность и </a:t>
            </a:r>
            <a:r>
              <a:rPr lang="ru-RU" dirty="0" smtClean="0"/>
              <a:t>цель.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1822" y="1842251"/>
            <a:ext cx="5105400" cy="4351338"/>
          </a:xfrm>
        </p:spPr>
        <p:txBody>
          <a:bodyPr>
            <a:normAutofit/>
          </a:bodyPr>
          <a:lstStyle/>
          <a:p>
            <a:r>
              <a:rPr lang="ru-RU" sz="2000" dirty="0" smtClean="0"/>
              <a:t>Повышение </a:t>
            </a:r>
            <a:r>
              <a:rPr lang="ru-RU" sz="2000" dirty="0"/>
              <a:t>безопасности</a:t>
            </a:r>
          </a:p>
          <a:p>
            <a:pPr marL="0" indent="0">
              <a:buNone/>
            </a:pPr>
            <a:r>
              <a:rPr lang="ru-RU" sz="2000" dirty="0" smtClean="0"/>
              <a:t>Защита </a:t>
            </a:r>
            <a:r>
              <a:rPr lang="ru-RU" sz="2000" dirty="0"/>
              <a:t>доменной инфраструктуры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от </a:t>
            </a:r>
            <a:r>
              <a:rPr lang="ru-RU" sz="2000" dirty="0"/>
              <a:t>компрометации учетных записей.</a:t>
            </a:r>
          </a:p>
          <a:p>
            <a:endParaRPr lang="ru-RU" sz="2000" dirty="0"/>
          </a:p>
          <a:p>
            <a:r>
              <a:rPr lang="ru-RU" sz="2000" dirty="0" smtClean="0"/>
              <a:t>Минимизация </a:t>
            </a:r>
            <a:r>
              <a:rPr lang="ru-RU" sz="2000" dirty="0"/>
              <a:t>рисков</a:t>
            </a:r>
          </a:p>
          <a:p>
            <a:pPr marL="0" indent="0">
              <a:buNone/>
            </a:pPr>
            <a:r>
              <a:rPr lang="ru-RU" sz="2000" dirty="0" smtClean="0"/>
              <a:t>Снижение </a:t>
            </a:r>
            <a:r>
              <a:rPr lang="ru-RU" sz="2000" dirty="0"/>
              <a:t>угроз </a:t>
            </a:r>
            <a:r>
              <a:rPr lang="ru-RU" sz="2000" dirty="0" err="1"/>
              <a:t>фишинга</a:t>
            </a:r>
            <a:r>
              <a:rPr lang="ru-RU" sz="2000" dirty="0"/>
              <a:t>,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перебора </a:t>
            </a:r>
            <a:r>
              <a:rPr lang="ru-RU" sz="2000" dirty="0"/>
              <a:t>паролей и атак </a:t>
            </a:r>
            <a:r>
              <a:rPr lang="ru-RU" sz="2000" dirty="0" err="1" smtClean="0"/>
              <a:t>Pass</a:t>
            </a:r>
            <a:r>
              <a:rPr lang="ru-RU" sz="2000" dirty="0" smtClean="0"/>
              <a:t> </a:t>
            </a:r>
            <a:r>
              <a:rPr lang="ru-RU" sz="2000" dirty="0" err="1" smtClean="0"/>
              <a:t>the</a:t>
            </a:r>
            <a:r>
              <a:rPr lang="ru-RU" sz="2000" dirty="0" smtClean="0"/>
              <a:t> </a:t>
            </a:r>
            <a:r>
              <a:rPr lang="ru-RU" sz="2000" dirty="0" err="1" smtClean="0"/>
              <a:t>Hash</a:t>
            </a:r>
            <a:r>
              <a:rPr lang="ru-RU" sz="2000" dirty="0"/>
              <a:t>.</a:t>
            </a:r>
          </a:p>
          <a:p>
            <a:endParaRPr lang="ru-RU" sz="2000" dirty="0"/>
          </a:p>
          <a:p>
            <a:r>
              <a:rPr lang="ru-RU" sz="2000" dirty="0" smtClean="0"/>
              <a:t>Эффективное </a:t>
            </a:r>
            <a:r>
              <a:rPr lang="ru-RU" sz="2000" dirty="0"/>
              <a:t>управление</a:t>
            </a:r>
          </a:p>
          <a:p>
            <a:pPr marL="0" indent="0">
              <a:buNone/>
            </a:pPr>
            <a:r>
              <a:rPr lang="ru-RU" sz="2000" dirty="0" smtClean="0"/>
              <a:t>Централизованное </a:t>
            </a:r>
            <a:r>
              <a:rPr lang="ru-RU" sz="2000" dirty="0"/>
              <a:t>управление доступом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с двухфакторной </a:t>
            </a:r>
            <a:r>
              <a:rPr lang="ru-RU" sz="2000" dirty="0"/>
              <a:t>аутентификацией.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683" y="869661"/>
            <a:ext cx="5182003" cy="5182003"/>
          </a:xfrm>
          <a:prstGeom prst="rect">
            <a:avLst/>
          </a:prstGeom>
          <a:effectLst>
            <a:softEdge rad="469900"/>
          </a:effectLst>
        </p:spPr>
      </p:pic>
    </p:spTree>
    <p:extLst>
      <p:ext uri="{BB962C8B-B14F-4D97-AF65-F5344CB8AC3E}">
        <p14:creationId xmlns:p14="http://schemas.microsoft.com/office/powerpoint/2010/main" val="365820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7571" y="457200"/>
            <a:ext cx="8254537" cy="714895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Анализ проблемной области.</a:t>
            </a:r>
            <a:endParaRPr lang="ru-RU" sz="360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07572" y="2111433"/>
            <a:ext cx="5960224" cy="4322618"/>
          </a:xfrm>
        </p:spPr>
        <p:txBody>
          <a:bodyPr>
            <a:noAutofit/>
          </a:bodyPr>
          <a:lstStyle/>
          <a:p>
            <a:r>
              <a:rPr lang="ru-RU" sz="2400" dirty="0" smtClean="0"/>
              <a:t>Задачи </a:t>
            </a:r>
            <a:r>
              <a:rPr lang="ru-RU" sz="2400" dirty="0"/>
              <a:t>доменной инфраструктуры</a:t>
            </a:r>
          </a:p>
          <a:p>
            <a:r>
              <a:rPr lang="ru-RU" sz="2400" dirty="0"/>
              <a:t>Проблемы однофакторной аутентификации</a:t>
            </a:r>
          </a:p>
          <a:p>
            <a:r>
              <a:rPr lang="ru-RU" sz="2400" dirty="0"/>
              <a:t>• </a:t>
            </a:r>
            <a:r>
              <a:rPr lang="ru-RU" sz="2400" dirty="0" smtClean="0"/>
              <a:t>Учет </a:t>
            </a:r>
            <a:r>
              <a:rPr lang="ru-RU" sz="2400" dirty="0"/>
              <a:t>пользователей в AD</a:t>
            </a:r>
          </a:p>
          <a:p>
            <a:r>
              <a:rPr lang="ru-RU" sz="2400" dirty="0"/>
              <a:t>• </a:t>
            </a:r>
            <a:r>
              <a:rPr lang="ru-RU" sz="2400" dirty="0" smtClean="0"/>
              <a:t>Уязвимость </a:t>
            </a:r>
            <a:r>
              <a:rPr lang="ru-RU" sz="2400" dirty="0"/>
              <a:t>паролей</a:t>
            </a:r>
          </a:p>
          <a:p>
            <a:r>
              <a:rPr lang="ru-RU" sz="2400" dirty="0"/>
              <a:t>• </a:t>
            </a:r>
            <a:r>
              <a:rPr lang="ru-RU" sz="2400" dirty="0" smtClean="0"/>
              <a:t>Контроль </a:t>
            </a:r>
            <a:r>
              <a:rPr lang="ru-RU" sz="2400" dirty="0"/>
              <a:t>доступа к ресурсам</a:t>
            </a:r>
          </a:p>
          <a:p>
            <a:r>
              <a:rPr lang="ru-RU" sz="2400" dirty="0"/>
              <a:t>• </a:t>
            </a:r>
            <a:r>
              <a:rPr lang="ru-RU" sz="2400" dirty="0" smtClean="0"/>
              <a:t>Кража </a:t>
            </a:r>
            <a:r>
              <a:rPr lang="ru-RU" sz="2400" dirty="0"/>
              <a:t>учетных данных</a:t>
            </a:r>
          </a:p>
          <a:p>
            <a:r>
              <a:rPr lang="ru-RU" sz="2400" dirty="0"/>
              <a:t>• </a:t>
            </a:r>
            <a:r>
              <a:rPr lang="ru-RU" sz="2400" dirty="0" smtClean="0"/>
              <a:t>Централизованное </a:t>
            </a:r>
            <a:r>
              <a:rPr lang="ru-RU" sz="2400" dirty="0"/>
              <a:t>управление доступом</a:t>
            </a:r>
          </a:p>
          <a:p>
            <a:r>
              <a:rPr lang="ru-RU" sz="2400" dirty="0"/>
              <a:t>• </a:t>
            </a:r>
            <a:r>
              <a:rPr lang="ru-RU" sz="2400" dirty="0" smtClean="0"/>
              <a:t>Ролевая </a:t>
            </a:r>
            <a:r>
              <a:rPr lang="ru-RU" sz="2400" dirty="0"/>
              <a:t>модель </a:t>
            </a:r>
            <a:r>
              <a:rPr lang="ru-RU" sz="2400" dirty="0" smtClean="0"/>
              <a:t>- RBAC</a:t>
            </a:r>
            <a:endParaRPr lang="ru-RU" sz="24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105" y="307571"/>
            <a:ext cx="5593080" cy="559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50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7921827" cy="656705"/>
          </a:xfrm>
        </p:spPr>
        <p:txBody>
          <a:bodyPr>
            <a:normAutofit/>
          </a:bodyPr>
          <a:lstStyle/>
          <a:p>
            <a:r>
              <a:rPr lang="ru-RU" b="1" dirty="0"/>
              <a:t>Требования к </a:t>
            </a:r>
            <a:r>
              <a:rPr lang="ru-RU" b="1" dirty="0" smtClean="0"/>
              <a:t>платформе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66553" y="1317246"/>
            <a:ext cx="5642714" cy="455557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1" dirty="0"/>
              <a:t>Функциональные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Двухфакторная аутентификация при входе в </a:t>
            </a:r>
            <a:r>
              <a:rPr lang="ru-RU" sz="1800" dirty="0" err="1" smtClean="0"/>
              <a:t>Windows</a:t>
            </a:r>
            <a:r>
              <a:rPr lang="ru-RU" sz="1800" dirty="0" smtClean="0"/>
              <a:t>/RDP</a:t>
            </a:r>
            <a:br>
              <a:rPr lang="ru-RU" sz="1800" dirty="0" smtClean="0"/>
            </a:br>
            <a:r>
              <a:rPr lang="ru-RU" sz="1800" dirty="0" smtClean="0"/>
              <a:t>Интеграция </a:t>
            </a:r>
            <a:r>
              <a:rPr lang="ru-RU" sz="1800" dirty="0"/>
              <a:t>с AD через </a:t>
            </a:r>
            <a:r>
              <a:rPr lang="ru-RU" sz="1800" dirty="0" smtClean="0"/>
              <a:t>LDAP</a:t>
            </a:r>
            <a:br>
              <a:rPr lang="ru-RU" sz="1800" dirty="0" smtClean="0"/>
            </a:br>
            <a:r>
              <a:rPr lang="ru-RU" sz="1800" dirty="0" smtClean="0"/>
              <a:t>Поддержка </a:t>
            </a:r>
            <a:r>
              <a:rPr lang="ru-RU" sz="1800" dirty="0"/>
              <a:t>TOTP (</a:t>
            </a:r>
            <a:r>
              <a:rPr lang="ru-RU" sz="1800" dirty="0" err="1"/>
              <a:t>Google</a:t>
            </a:r>
            <a:r>
              <a:rPr lang="ru-RU" sz="1800" dirty="0"/>
              <a:t> </a:t>
            </a:r>
            <a:r>
              <a:rPr lang="ru-RU" sz="1800" dirty="0" err="1"/>
              <a:t>Authenticator</a:t>
            </a:r>
            <a:r>
              <a:rPr lang="ru-RU" sz="1800" dirty="0"/>
              <a:t>).</a:t>
            </a:r>
          </a:p>
          <a:p>
            <a:pPr>
              <a:lnSpc>
                <a:spcPct val="100000"/>
              </a:lnSpc>
            </a:pPr>
            <a:r>
              <a:rPr lang="ru-RU" sz="1800" b="1" dirty="0"/>
              <a:t>Информационные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Данные о пользователях </a:t>
            </a:r>
            <a:r>
              <a:rPr lang="ru-RU" sz="1800" dirty="0" smtClean="0"/>
              <a:t>AD</a:t>
            </a:r>
            <a:br>
              <a:rPr lang="ru-RU" sz="1800" dirty="0" smtClean="0"/>
            </a:br>
            <a:r>
              <a:rPr lang="ru-RU" sz="1800" dirty="0" smtClean="0"/>
              <a:t>Секретные </a:t>
            </a:r>
            <a:r>
              <a:rPr lang="ru-RU" sz="1800" dirty="0"/>
              <a:t>ключи </a:t>
            </a:r>
            <a:r>
              <a:rPr lang="ru-RU" sz="1800" dirty="0" smtClean="0"/>
              <a:t>TOTP</a:t>
            </a:r>
            <a:br>
              <a:rPr lang="ru-RU" sz="1800" dirty="0" smtClean="0"/>
            </a:br>
            <a:r>
              <a:rPr lang="ru-RU" sz="1800" dirty="0" smtClean="0"/>
              <a:t>Журнал </a:t>
            </a:r>
            <a:r>
              <a:rPr lang="ru-RU" sz="1800" dirty="0"/>
              <a:t>действий </a:t>
            </a:r>
            <a:r>
              <a:rPr lang="ru-RU" sz="1800" dirty="0" smtClean="0"/>
              <a:t>пользователей</a:t>
            </a:r>
            <a:endParaRPr lang="ru-RU" sz="1800" dirty="0"/>
          </a:p>
          <a:p>
            <a:pPr>
              <a:lnSpc>
                <a:spcPct val="100000"/>
              </a:lnSpc>
            </a:pPr>
            <a:r>
              <a:rPr lang="ru-RU" sz="1800" b="1" dirty="0"/>
              <a:t>Технические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Клиент-серверная </a:t>
            </a:r>
            <a:r>
              <a:rPr lang="ru-RU" sz="1800" dirty="0" smtClean="0"/>
              <a:t>архитектура</a:t>
            </a:r>
            <a:br>
              <a:rPr lang="ru-RU" sz="1800" dirty="0" smtClean="0"/>
            </a:br>
            <a:r>
              <a:rPr lang="ru-RU" sz="1800" dirty="0" smtClean="0"/>
              <a:t>Локальное развертывание</a:t>
            </a:r>
            <a:br>
              <a:rPr lang="ru-RU" sz="1800" dirty="0" smtClean="0"/>
            </a:br>
            <a:r>
              <a:rPr lang="ru-RU" sz="1800" dirty="0" smtClean="0"/>
              <a:t>Отказоустойчивость</a:t>
            </a:r>
            <a:endParaRPr lang="ru-RU" sz="1800" dirty="0"/>
          </a:p>
          <a:p>
            <a:pPr>
              <a:lnSpc>
                <a:spcPct val="100000"/>
              </a:lnSpc>
            </a:pPr>
            <a:r>
              <a:rPr lang="ru-RU" sz="1800" b="1" dirty="0"/>
              <a:t>Безопасность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Система </a:t>
            </a:r>
            <a:r>
              <a:rPr lang="ru-RU" sz="1800" dirty="0" smtClean="0"/>
              <a:t>ролей</a:t>
            </a:r>
            <a:br>
              <a:rPr lang="ru-RU" sz="1800" dirty="0" smtClean="0"/>
            </a:br>
            <a:r>
              <a:rPr lang="ru-RU" sz="1800" dirty="0" smtClean="0"/>
              <a:t>Контроль доступа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 smtClean="0"/>
              <a:t>Блокировка </a:t>
            </a:r>
            <a:r>
              <a:rPr lang="ru-RU" sz="1800" dirty="0"/>
              <a:t>после 3 неудачных </a:t>
            </a:r>
            <a:r>
              <a:rPr lang="ru-RU" sz="1800" dirty="0" smtClean="0"/>
              <a:t>попыток</a:t>
            </a:r>
            <a:endParaRPr lang="ru-RU" sz="1800" dirty="0"/>
          </a:p>
          <a:p>
            <a:pPr>
              <a:lnSpc>
                <a:spcPct val="100000"/>
              </a:lnSpc>
            </a:pPr>
            <a:endParaRPr lang="ru-RU" sz="7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270" y="1113905"/>
            <a:ext cx="3324689" cy="553479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6843562" y="712269"/>
            <a:ext cx="3570973" cy="59364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60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199"/>
            <a:ext cx="8428903" cy="606829"/>
          </a:xfrm>
        </p:spPr>
        <p:txBody>
          <a:bodyPr>
            <a:normAutofit/>
          </a:bodyPr>
          <a:lstStyle/>
          <a:p>
            <a:r>
              <a:rPr lang="ru-RU" b="1" dirty="0"/>
              <a:t>Проектирование архитектуры сервиса 2</a:t>
            </a:r>
            <a:r>
              <a:rPr lang="en-US" b="1" dirty="0" smtClean="0"/>
              <a:t>FA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41316" y="1837113"/>
            <a:ext cx="4630709" cy="471331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800" dirty="0"/>
              <a:t>Схема включает ключевые компоненты, каждый из которых отвечает за свою часть функционала: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• </a:t>
            </a:r>
            <a:r>
              <a:rPr lang="ru-RU" sz="1800" b="1" dirty="0"/>
              <a:t>Контроллер домена (PDC01)</a:t>
            </a:r>
            <a:r>
              <a:rPr lang="ru-RU" sz="1800" dirty="0"/>
              <a:t> — проверка паролей через LDAP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• </a:t>
            </a:r>
            <a:r>
              <a:rPr lang="ru-RU" sz="1800" b="1" dirty="0"/>
              <a:t>Сервер </a:t>
            </a:r>
            <a:r>
              <a:rPr lang="ru-RU" sz="1800" b="1" dirty="0" err="1"/>
              <a:t>MultiOTP</a:t>
            </a:r>
            <a:r>
              <a:rPr lang="ru-RU" sz="1800" b="1" dirty="0"/>
              <a:t> (TS)</a:t>
            </a:r>
            <a:r>
              <a:rPr lang="ru-RU" sz="1800" dirty="0"/>
              <a:t> — служба аутентификации, </a:t>
            </a:r>
            <a:r>
              <a:rPr lang="ru-RU" sz="1800" dirty="0" err="1"/>
              <a:t>Credential</a:t>
            </a:r>
            <a:r>
              <a:rPr lang="ru-RU" sz="1800" dirty="0"/>
              <a:t> </a:t>
            </a:r>
            <a:r>
              <a:rPr lang="ru-RU" sz="1800" dirty="0" err="1"/>
              <a:t>Provider</a:t>
            </a:r>
            <a:r>
              <a:rPr lang="ru-RU" sz="1800" dirty="0"/>
              <a:t>, хранение секретных ключей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• </a:t>
            </a:r>
            <a:r>
              <a:rPr lang="ru-RU" sz="1800" b="1" dirty="0"/>
              <a:t>Клиентские устройства</a:t>
            </a:r>
            <a:r>
              <a:rPr lang="ru-RU" sz="1800" dirty="0"/>
              <a:t> — подключение по RDP с любых устройств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• </a:t>
            </a:r>
            <a:r>
              <a:rPr lang="ru-RU" sz="1800" b="1" dirty="0"/>
              <a:t>Приложение-</a:t>
            </a:r>
            <a:r>
              <a:rPr lang="ru-RU" sz="1800" b="1" dirty="0" err="1"/>
              <a:t>аутентификатор</a:t>
            </a:r>
            <a:r>
              <a:rPr lang="ru-RU" sz="1800" dirty="0"/>
              <a:t> — генерация TOTP-кодов (</a:t>
            </a:r>
            <a:r>
              <a:rPr lang="ru-RU" sz="1800" dirty="0" err="1"/>
              <a:t>Google</a:t>
            </a:r>
            <a:r>
              <a:rPr lang="ru-RU" sz="1800" dirty="0"/>
              <a:t> </a:t>
            </a:r>
            <a:r>
              <a:rPr lang="ru-RU" sz="1800" dirty="0" err="1"/>
              <a:t>Authenticator</a:t>
            </a:r>
            <a:r>
              <a:rPr lang="ru-RU" sz="1800" dirty="0"/>
              <a:t>)</a:t>
            </a:r>
          </a:p>
          <a:p>
            <a:endParaRPr lang="ru-RU" sz="18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200" y="1130531"/>
            <a:ext cx="7367648" cy="504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38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8038205" cy="665018"/>
          </a:xfrm>
        </p:spPr>
        <p:txBody>
          <a:bodyPr>
            <a:normAutofit/>
          </a:bodyPr>
          <a:lstStyle/>
          <a:p>
            <a:r>
              <a:rPr lang="ru-RU" b="1" dirty="0"/>
              <a:t>Основные риски </a:t>
            </a:r>
            <a:r>
              <a:rPr lang="ru-RU" b="1" dirty="0" smtClean="0"/>
              <a:t>разработки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99259" y="1546167"/>
            <a:ext cx="5483474" cy="458882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Безопасность данных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 err="1"/>
              <a:t>Хэширование</a:t>
            </a:r>
            <a:r>
              <a:rPr lang="ru-RU" sz="1800" dirty="0"/>
              <a:t> </a:t>
            </a:r>
            <a:r>
              <a:rPr lang="ru-RU" sz="1800" dirty="0" smtClean="0"/>
              <a:t>паролей</a:t>
            </a:r>
            <a:br>
              <a:rPr lang="ru-RU" sz="1800" dirty="0" smtClean="0"/>
            </a:br>
            <a:r>
              <a:rPr lang="ru-RU" sz="1800" dirty="0" smtClean="0"/>
              <a:t>защита </a:t>
            </a:r>
            <a:r>
              <a:rPr lang="ru-RU" sz="1800" dirty="0"/>
              <a:t>от </a:t>
            </a:r>
            <a:r>
              <a:rPr lang="ru-RU" sz="1800" dirty="0" smtClean="0"/>
              <a:t>SQL инъекций</a:t>
            </a:r>
            <a:br>
              <a:rPr lang="ru-RU" sz="1800" dirty="0" smtClean="0"/>
            </a:br>
            <a:r>
              <a:rPr lang="ru-RU" sz="1800" dirty="0" smtClean="0"/>
              <a:t>HTTPS</a:t>
            </a:r>
            <a:endParaRPr lang="ru-R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Потеря данных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Регулярное резервное копирование, план </a:t>
            </a:r>
            <a:r>
              <a:rPr lang="ru-RU" sz="1800" dirty="0" smtClean="0"/>
              <a:t>восстановления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 smtClean="0"/>
              <a:t>Масштабируемость</a:t>
            </a:r>
            <a:r>
              <a:rPr lang="ru-RU" sz="1800" dirty="0" smtClean="0"/>
              <a:t/>
            </a:r>
            <a:br>
              <a:rPr lang="ru-RU" sz="1800" dirty="0" smtClean="0"/>
            </a:br>
            <a:r>
              <a:rPr lang="ru-RU" sz="1800" dirty="0" smtClean="0"/>
              <a:t>Поддержка до 200 пользователей без модернизации оборудования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 smtClean="0"/>
              <a:t>Ошибки </a:t>
            </a:r>
            <a:r>
              <a:rPr lang="ru-RU" sz="1800" b="1" dirty="0"/>
              <a:t>логики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Тщательное </a:t>
            </a:r>
            <a:r>
              <a:rPr lang="ru-RU" sz="1800" dirty="0" smtClean="0"/>
              <a:t>тестирование</a:t>
            </a:r>
            <a:endParaRPr lang="ru-R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Защита авторизации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Двухфакторная аутентификация, контроль </a:t>
            </a:r>
            <a:r>
              <a:rPr lang="ru-RU" sz="1800" dirty="0" smtClean="0"/>
              <a:t>сессий</a:t>
            </a:r>
            <a:endParaRPr lang="ru-R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Низкий UX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Интуитивный двухэтапный вход (+0.5 сек к времени входа</a:t>
            </a:r>
            <a:r>
              <a:rPr lang="ru-RU" sz="1800" dirty="0" smtClean="0"/>
              <a:t>)</a:t>
            </a:r>
            <a:endParaRPr lang="ru-RU" sz="18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0" y="1197017"/>
            <a:ext cx="6256841" cy="493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83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7" y="453044"/>
            <a:ext cx="6724795" cy="635923"/>
          </a:xfrm>
        </p:spPr>
        <p:txBody>
          <a:bodyPr>
            <a:normAutofit/>
          </a:bodyPr>
          <a:lstStyle/>
          <a:p>
            <a:r>
              <a:rPr lang="ru-RU" b="1" dirty="0"/>
              <a:t>Технологии </a:t>
            </a:r>
            <a:r>
              <a:rPr lang="ru-RU" b="1" dirty="0" smtClean="0"/>
              <a:t>безопасности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1695796"/>
            <a:ext cx="3932237" cy="417319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 smtClean="0"/>
              <a:t>HTTPS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Шифрование данных для безопасной передачи.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XSS-атаки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Очистка HTML, запрет скриптов, </a:t>
            </a:r>
            <a:r>
              <a:rPr lang="ru-RU" sz="1800" dirty="0" err="1"/>
              <a:t>Content</a:t>
            </a:r>
            <a:r>
              <a:rPr lang="ru-RU" sz="1800" dirty="0"/>
              <a:t> </a:t>
            </a:r>
            <a:r>
              <a:rPr lang="ru-RU" sz="1800" dirty="0" err="1"/>
              <a:t>Security</a:t>
            </a:r>
            <a:r>
              <a:rPr lang="ru-RU" sz="1800" dirty="0"/>
              <a:t> </a:t>
            </a:r>
            <a:r>
              <a:rPr lang="ru-RU" sz="1800" dirty="0" err="1"/>
              <a:t>Policy</a:t>
            </a:r>
            <a:r>
              <a:rPr lang="ru-RU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/>
              <a:t>CSRF-атаки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CSRF-</a:t>
            </a:r>
            <a:r>
              <a:rPr lang="ru-RU" sz="1800" dirty="0" err="1"/>
              <a:t>токены</a:t>
            </a:r>
            <a:r>
              <a:rPr lang="ru-RU" sz="1800" dirty="0"/>
              <a:t>, проверка подлинности запросов.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 err="1"/>
              <a:t>Pass-the-Hash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2FA эффективно противодействует — даже при перехвате </a:t>
            </a:r>
            <a:r>
              <a:rPr lang="ru-RU" sz="1800" dirty="0" err="1"/>
              <a:t>хэша</a:t>
            </a:r>
            <a:r>
              <a:rPr lang="ru-RU" sz="1800" dirty="0"/>
              <a:t> пароля требуется TOTP-код.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661" y="308956"/>
            <a:ext cx="5817523" cy="5817523"/>
          </a:xfrm>
          <a:prstGeom prst="rect">
            <a:avLst/>
          </a:prstGeom>
          <a:effectLst>
            <a:softEdge rad="190500"/>
          </a:effectLst>
        </p:spPr>
      </p:pic>
    </p:spTree>
    <p:extLst>
      <p:ext uri="{BB962C8B-B14F-4D97-AF65-F5344CB8AC3E}">
        <p14:creationId xmlns:p14="http://schemas.microsoft.com/office/powerpoint/2010/main" val="3937416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8079768" cy="681644"/>
          </a:xfrm>
        </p:spPr>
        <p:txBody>
          <a:bodyPr>
            <a:normAutofit/>
          </a:bodyPr>
          <a:lstStyle/>
          <a:p>
            <a:r>
              <a:rPr lang="ru-RU" b="1" dirty="0"/>
              <a:t>Пользовательский </a:t>
            </a:r>
            <a:r>
              <a:rPr lang="ru-RU" b="1" dirty="0" smtClean="0"/>
              <a:t>интерфейс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1654233"/>
            <a:ext cx="3932237" cy="4588828"/>
          </a:xfrm>
        </p:spPr>
        <p:txBody>
          <a:bodyPr>
            <a:normAutofit/>
          </a:bodyPr>
          <a:lstStyle/>
          <a:p>
            <a:r>
              <a:rPr lang="ru-RU" sz="1800" dirty="0"/>
              <a:t>Интерфейс системы разработан с учетом принципов адаптивности, доступности и простоты взаимодействия для различных ролей пользователей: </a:t>
            </a:r>
            <a:r>
              <a:rPr lang="ru-RU" sz="1800" dirty="0" smtClean="0"/>
              <a:t/>
            </a:r>
            <a:br>
              <a:rPr lang="ru-RU" sz="1800" dirty="0" smtClean="0"/>
            </a:br>
            <a:r>
              <a:rPr lang="ru-RU" sz="1800" dirty="0" smtClean="0"/>
              <a:t>администратора - администратора </a:t>
            </a:r>
            <a:r>
              <a:rPr lang="ru-RU" sz="1800" dirty="0"/>
              <a:t>и пользователей домена</a:t>
            </a:r>
            <a:r>
              <a:rPr lang="ru-RU" sz="1800" dirty="0" smtClean="0"/>
              <a:t>.</a:t>
            </a:r>
          </a:p>
          <a:p>
            <a:r>
              <a:rPr lang="ru-RU" sz="1800" dirty="0" smtClean="0"/>
              <a:t>Использован </a:t>
            </a:r>
            <a:r>
              <a:rPr lang="ru-RU" sz="1800" dirty="0"/>
              <a:t>встроенный веб-интерфейс </a:t>
            </a:r>
            <a:r>
              <a:rPr lang="ru-RU" sz="1800" dirty="0" err="1"/>
              <a:t>MultiOTP</a:t>
            </a:r>
            <a:r>
              <a:rPr lang="ru-RU" sz="1800" dirty="0"/>
              <a:t> </a:t>
            </a:r>
            <a:br>
              <a:rPr lang="ru-RU" sz="1800" dirty="0"/>
            </a:br>
            <a:r>
              <a:rPr lang="ru-RU" sz="1800" dirty="0" smtClean="0"/>
              <a:t/>
            </a:r>
            <a:br>
              <a:rPr lang="ru-RU" sz="1800" dirty="0" smtClean="0"/>
            </a:br>
            <a:r>
              <a:rPr lang="ru-RU" sz="1800" dirty="0" smtClean="0"/>
              <a:t>После </a:t>
            </a:r>
            <a:r>
              <a:rPr lang="ru-RU" sz="1800" dirty="0"/>
              <a:t>входа в систему </a:t>
            </a:r>
            <a:r>
              <a:rPr lang="ru-RU" sz="1800" dirty="0" smtClean="0"/>
              <a:t>администратор </a:t>
            </a:r>
            <a:r>
              <a:rPr lang="ru-RU" sz="1800" dirty="0"/>
              <a:t>попадает на панель профиля.</a:t>
            </a:r>
          </a:p>
          <a:p>
            <a:r>
              <a:rPr lang="ru-RU" sz="1800" dirty="0"/>
              <a:t>Внешний вид </a:t>
            </a:r>
            <a:r>
              <a:rPr lang="ru-RU" sz="1800" dirty="0" smtClean="0"/>
              <a:t>веб консоли </a:t>
            </a:r>
            <a:r>
              <a:rPr lang="ru-RU" sz="1800" dirty="0" err="1"/>
              <a:t>MultiOTP</a:t>
            </a:r>
            <a:r>
              <a:rPr lang="ru-RU" sz="1800" dirty="0"/>
              <a:t> со списком пользователей</a:t>
            </a:r>
          </a:p>
          <a:p>
            <a:endParaRPr lang="ru-RU" sz="18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918" y="375385"/>
            <a:ext cx="3543701" cy="6107229"/>
          </a:xfrm>
          <a:prstGeom prst="rect">
            <a:avLst/>
          </a:prstGeom>
          <a:effectLst>
            <a:softEdge rad="139700"/>
          </a:effectLst>
        </p:spPr>
      </p:pic>
    </p:spTree>
    <p:extLst>
      <p:ext uri="{BB962C8B-B14F-4D97-AF65-F5344CB8AC3E}">
        <p14:creationId xmlns:p14="http://schemas.microsoft.com/office/powerpoint/2010/main" val="70829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9293427" cy="623455"/>
          </a:xfrm>
        </p:spPr>
        <p:txBody>
          <a:bodyPr>
            <a:normAutofit/>
          </a:bodyPr>
          <a:lstStyle/>
          <a:p>
            <a:r>
              <a:rPr lang="ru-RU" b="1" dirty="0"/>
              <a:t>Пользовательский </a:t>
            </a:r>
            <a:r>
              <a:rPr lang="ru-RU" b="1" dirty="0" smtClean="0"/>
              <a:t>интерфейс (резервные </a:t>
            </a:r>
            <a:r>
              <a:rPr lang="ru-RU" b="1" dirty="0" err="1" smtClean="0"/>
              <a:t>токены</a:t>
            </a:r>
            <a:r>
              <a:rPr lang="ru-RU" b="1" dirty="0" smtClean="0"/>
              <a:t>)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1424539"/>
            <a:ext cx="9218612" cy="2208123"/>
          </a:xfrm>
        </p:spPr>
        <p:txBody>
          <a:bodyPr>
            <a:normAutofit/>
          </a:bodyPr>
          <a:lstStyle/>
          <a:p>
            <a:r>
              <a:rPr lang="ru-RU" dirty="0"/>
              <a:t>Панель позволяет управлять пользователями и </a:t>
            </a:r>
            <a:r>
              <a:rPr lang="ru-RU" dirty="0" err="1"/>
              <a:t>токенами</a:t>
            </a:r>
            <a:r>
              <a:rPr lang="ru-RU" dirty="0"/>
              <a:t>.</a:t>
            </a:r>
          </a:p>
          <a:p>
            <a:r>
              <a:rPr lang="ru-RU" b="1" dirty="0"/>
              <a:t>Интуитивность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Легкий и понятный интерфейс для всех пользователей.</a:t>
            </a:r>
          </a:p>
          <a:p>
            <a:r>
              <a:rPr lang="ru-RU" b="1" dirty="0"/>
              <a:t>Адаптивность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Корректное отображение на смартфонах, планшетах, десктопах.</a:t>
            </a:r>
          </a:p>
          <a:p>
            <a:r>
              <a:rPr lang="ru-RU" b="1" dirty="0"/>
              <a:t>Управление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Панель с быстрым доступом к управлению </a:t>
            </a:r>
            <a:r>
              <a:rPr lang="ru-RU" dirty="0" err="1"/>
              <a:t>токенами</a:t>
            </a:r>
            <a:r>
              <a:rPr lang="ru-RU" dirty="0"/>
              <a:t> и резервными кодами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493" y="3632662"/>
            <a:ext cx="9461633" cy="2713013"/>
          </a:xfrm>
          <a:prstGeom prst="rect">
            <a:avLst/>
          </a:prstGeom>
          <a:effectLst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08946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56953"/>
          </a:xfrm>
        </p:spPr>
        <p:txBody>
          <a:bodyPr>
            <a:normAutofit/>
          </a:bodyPr>
          <a:lstStyle/>
          <a:p>
            <a:r>
              <a:rPr lang="ru-RU" b="1" dirty="0" smtClean="0"/>
              <a:t>Админ панель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39275" y="1438539"/>
            <a:ext cx="3932237" cy="4555577"/>
          </a:xfrm>
        </p:spPr>
        <p:txBody>
          <a:bodyPr/>
          <a:lstStyle/>
          <a:p>
            <a:r>
              <a:rPr lang="ru-RU" dirty="0" smtClean="0"/>
              <a:t>Инструмент </a:t>
            </a:r>
            <a:r>
              <a:rPr lang="ru-RU" dirty="0"/>
              <a:t>для управления системой 2FA.</a:t>
            </a:r>
          </a:p>
          <a:p>
            <a:r>
              <a:rPr lang="ru-RU" b="1" dirty="0"/>
              <a:t>Функции </a:t>
            </a:r>
            <a:r>
              <a:rPr lang="ru-RU" b="1" dirty="0" smtClean="0"/>
              <a:t>управления</a:t>
            </a:r>
          </a:p>
          <a:p>
            <a:r>
              <a:rPr lang="ru-RU" dirty="0"/>
              <a:t/>
            </a:r>
            <a:br>
              <a:rPr lang="ru-RU" dirty="0"/>
            </a:br>
            <a:r>
              <a:rPr lang="ru-RU" dirty="0"/>
              <a:t>• Просмотр и управление пользователями (синхронизация из AD)</a:t>
            </a:r>
            <a:br>
              <a:rPr lang="ru-RU" dirty="0"/>
            </a:br>
            <a:r>
              <a:rPr lang="ru-RU" dirty="0"/>
              <a:t>• Генерация QR-кодов для регистрации устройств</a:t>
            </a:r>
            <a:br>
              <a:rPr lang="ru-RU" dirty="0"/>
            </a:br>
            <a:r>
              <a:rPr lang="ru-RU" dirty="0"/>
              <a:t>• Управление резервными кодами</a:t>
            </a:r>
            <a:br>
              <a:rPr lang="ru-RU" dirty="0"/>
            </a:br>
            <a:r>
              <a:rPr lang="ru-RU" dirty="0"/>
              <a:t>• Просмотр журнала событий</a:t>
            </a:r>
          </a:p>
          <a:p>
            <a:r>
              <a:rPr lang="ru-RU" b="1" dirty="0" smtClean="0"/>
              <a:t>Преимущества</a:t>
            </a:r>
          </a:p>
          <a:p>
            <a:r>
              <a:rPr lang="ru-RU" dirty="0"/>
              <a:t/>
            </a:r>
            <a:br>
              <a:rPr lang="ru-RU" dirty="0"/>
            </a:br>
            <a:r>
              <a:rPr lang="ru-RU" dirty="0"/>
              <a:t>• Интуитивный и удобный интерфейс</a:t>
            </a:r>
            <a:br>
              <a:rPr lang="ru-RU" dirty="0"/>
            </a:br>
            <a:r>
              <a:rPr lang="ru-RU" dirty="0"/>
              <a:t>• Автоматизация рутинных задач</a:t>
            </a:r>
            <a:br>
              <a:rPr lang="ru-RU" dirty="0"/>
            </a:br>
            <a:r>
              <a:rPr lang="ru-RU" dirty="0"/>
              <a:t>• Повышение эффективности управления доступом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512" y="310711"/>
            <a:ext cx="7708984" cy="601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93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6475412" cy="573578"/>
          </a:xfrm>
        </p:spPr>
        <p:txBody>
          <a:bodyPr>
            <a:normAutofit/>
          </a:bodyPr>
          <a:lstStyle/>
          <a:p>
            <a:r>
              <a:rPr lang="ru-RU" b="1" dirty="0"/>
              <a:t>Пользовательский </a:t>
            </a:r>
            <a:r>
              <a:rPr lang="ru-RU" b="1" dirty="0" smtClean="0"/>
              <a:t>интерфейс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1232034"/>
            <a:ext cx="3932237" cy="4636954"/>
          </a:xfrm>
        </p:spPr>
        <p:txBody>
          <a:bodyPr/>
          <a:lstStyle/>
          <a:p>
            <a:r>
              <a:rPr lang="ru-RU" dirty="0"/>
              <a:t>Интуитивно понятный UI обеспечивает удобство и эффективность работы всех пользователей. Современный дизайн с адаптивностью под разные устройства улучшает взаимодействие.</a:t>
            </a:r>
          </a:p>
          <a:p>
            <a:r>
              <a:rPr lang="ru-RU" b="1" dirty="0"/>
              <a:t>Адаптивность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Интерфейс корректно отображается на смартфонах, планшетах и десктопах.</a:t>
            </a:r>
          </a:p>
          <a:p>
            <a:r>
              <a:rPr lang="ru-RU" b="1" dirty="0"/>
              <a:t>Простота</a:t>
            </a:r>
            <a:r>
              <a:rPr lang="ru-RU" dirty="0"/>
              <a:t/>
            </a:r>
            <a:br>
              <a:rPr lang="ru-RU" dirty="0"/>
            </a:br>
            <a:r>
              <a:rPr lang="ru-RU" dirty="0" err="1"/>
              <a:t>Минималистичный</a:t>
            </a:r>
            <a:r>
              <a:rPr lang="ru-RU" dirty="0"/>
              <a:t> дизайн помогает сосредоточиться на ключевых задачах.</a:t>
            </a:r>
          </a:p>
          <a:p>
            <a:r>
              <a:rPr lang="ru-RU" b="1" dirty="0"/>
              <a:t>Управление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Панель управления с быстрым доступом к управлению </a:t>
            </a:r>
            <a:r>
              <a:rPr lang="ru-RU" dirty="0" err="1"/>
              <a:t>токенами</a:t>
            </a:r>
            <a:r>
              <a:rPr lang="ru-RU" dirty="0"/>
              <a:t> и резервными кодами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836" y="2041976"/>
            <a:ext cx="6803490" cy="301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3737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7339936" cy="530225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Заключение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1454727"/>
            <a:ext cx="3932237" cy="4776051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Платформа 2FA автоматизирует защиту доменной инфраструктуры, повышает безопасность и улучшает управление доступом.</a:t>
            </a:r>
          </a:p>
          <a:p>
            <a:r>
              <a:rPr lang="ru-RU" b="1" dirty="0"/>
              <a:t>Анализ потребностей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Выявлены задачи и проблемы доменной инфраструктуры.</a:t>
            </a:r>
          </a:p>
          <a:p>
            <a:r>
              <a:rPr lang="ru-RU" b="1" dirty="0"/>
              <a:t>Проектирование архитектуры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Создана структура сервиса на базе </a:t>
            </a:r>
            <a:r>
              <a:rPr lang="ru-RU" dirty="0" err="1"/>
              <a:t>MultiOTP</a:t>
            </a:r>
            <a:r>
              <a:rPr lang="ru-RU" dirty="0"/>
              <a:t>.</a:t>
            </a:r>
          </a:p>
          <a:p>
            <a:r>
              <a:rPr lang="ru-RU" b="1" dirty="0"/>
              <a:t>Реализация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Разработан удобный UI/UX с веб-интерфейсом </a:t>
            </a:r>
            <a:r>
              <a:rPr lang="ru-RU" dirty="0" err="1"/>
              <a:t>MultiOTP</a:t>
            </a:r>
            <a:r>
              <a:rPr lang="ru-RU" dirty="0"/>
              <a:t>.</a:t>
            </a:r>
          </a:p>
          <a:p>
            <a:r>
              <a:rPr lang="ru-RU" b="1" dirty="0"/>
              <a:t>Внедрение безопасности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Защита от уязвимостей, интеграция с AD, роли пользователей.</a:t>
            </a:r>
          </a:p>
          <a:p>
            <a:r>
              <a:rPr lang="ru-RU" b="1" dirty="0"/>
              <a:t>Тестирование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Устранение ошибок, подтверждение работоспособности.</a:t>
            </a:r>
          </a:p>
        </p:txBody>
      </p:sp>
      <p:pic>
        <p:nvPicPr>
          <p:cNvPr id="1026" name="Picture 2" descr="https://avatars.mds.yandex.net/i?id=802ff968f2972f6cb5057c71c5104be179911bef-5592650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423" y="1175234"/>
            <a:ext cx="4433396" cy="4532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3866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Спасибо за внимание!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4370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Ссылка на </a:t>
            </a:r>
            <a:r>
              <a:rPr lang="ru-RU" dirty="0" err="1" smtClean="0"/>
              <a:t>репозиторий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018416"/>
            <a:ext cx="7785434" cy="300049"/>
          </a:xfrm>
        </p:spPr>
        <p:txBody>
          <a:bodyPr>
            <a:normAutofit fontScale="62500" lnSpcReduction="20000"/>
          </a:bodyPr>
          <a:lstStyle/>
          <a:p>
            <a:r>
              <a:rPr lang="ru-RU" u="sng" dirty="0">
                <a:hlinkClick r:id="rId2"/>
              </a:rPr>
              <a:t>https://github.com/Demiantron/Diplom_multiotp</a:t>
            </a:r>
            <a:endParaRPr lang="ru-RU" dirty="0"/>
          </a:p>
        </p:txBody>
      </p:sp>
      <p:pic>
        <p:nvPicPr>
          <p:cNvPr id="1026" name="Picture 2" descr="qrcod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196" y="1401300"/>
            <a:ext cx="4417607" cy="4417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47852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1213</TotalTime>
  <Words>192</Words>
  <Application>Microsoft Office PowerPoint</Application>
  <PresentationFormat>Широкоэкранный</PresentationFormat>
  <Paragraphs>76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Тема Office</vt:lpstr>
      <vt:lpstr>Частное  учреждение профессионального образования  «высшая школа предпринимательства»</vt:lpstr>
      <vt:lpstr>Актуальность и цель.</vt:lpstr>
      <vt:lpstr>Анализ проблемной области.</vt:lpstr>
      <vt:lpstr>Требования к платформе</vt:lpstr>
      <vt:lpstr>Проектирование архитектуры сервиса 2FA</vt:lpstr>
      <vt:lpstr>Основные риски разработки</vt:lpstr>
      <vt:lpstr>Технологии безопасности</vt:lpstr>
      <vt:lpstr>Пользовательский интерфейс</vt:lpstr>
      <vt:lpstr>Пользовательский интерфейс (резервные токены)</vt:lpstr>
      <vt:lpstr>Админ панель</vt:lpstr>
      <vt:lpstr>Пользовательский интерфейс</vt:lpstr>
      <vt:lpstr>Заключение</vt:lpstr>
      <vt:lpstr>Спасибо за внимание! </vt:lpstr>
      <vt:lpstr>Ссылка на репозиторий.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Частное  учреждение профессионального образования  «высшая школа предпринимательства»</dc:title>
  <dc:creator>Учетная запись Майкрософт</dc:creator>
  <cp:lastModifiedBy>Учетная запись Майкрософт</cp:lastModifiedBy>
  <cp:revision>21</cp:revision>
  <dcterms:created xsi:type="dcterms:W3CDTF">2026-06-12T09:42:10Z</dcterms:created>
  <dcterms:modified xsi:type="dcterms:W3CDTF">2026-06-22T16:47:24Z</dcterms:modified>
</cp:coreProperties>
</file>